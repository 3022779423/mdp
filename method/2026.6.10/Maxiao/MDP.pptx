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62" r:id="rId6"/>
    <p:sldId id="263" r:id="rId7"/>
    <p:sldId id="264" r:id="rId8"/>
    <p:sldId id="265" r:id="rId9"/>
    <p:sldId id="266" r:id="rId10"/>
    <p:sldId id="267" r:id="rId11"/>
    <p:sldId id="268" r:id="rId12"/>
    <p:sldId id="269" r:id="rId13"/>
    <p:sldId id="270" r:id="rId14"/>
    <p:sldId id="271" r:id="rId15"/>
    <p:sldId id="272" r:id="rId16"/>
    <p:sldId id="273" r:id="rId17"/>
    <p:sldId id="274" r:id="rId18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116" d="100"/>
          <a:sy n="116" d="100"/>
        </p:scale>
        <p:origin x="336" y="10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1" Type="http://schemas.openxmlformats.org/officeDocument/2006/relationships/tableStyles" Target="tableStyles.xml"/><Relationship Id="rId20" Type="http://schemas.openxmlformats.org/officeDocument/2006/relationships/viewProps" Target="viewProps.xml"/><Relationship Id="rId2" Type="http://schemas.openxmlformats.org/officeDocument/2006/relationships/theme" Target="theme/theme1.xml"/><Relationship Id="rId19" Type="http://schemas.openxmlformats.org/officeDocument/2006/relationships/presProps" Target="presProps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3.png"/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tags" Target="../tags/tag1.xml"/></Relationships>
</file>

<file path=ppt/slides/_rels/slide2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6.png"/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tags" Target="../tags/tag2.xml"/></Relationships>
</file>

<file path=ppt/slides/_rels/slide3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tags" Target="../tags/tag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5.xml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tags" Target="../tags/tag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4.png"/><Relationship Id="rId1" Type="http://schemas.openxmlformats.org/officeDocument/2006/relationships/tags" Target="../tags/tag7.xml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tags" Target="../tags/tag8.xml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tags" Target="../tags/tag9.xml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tags" Target="../tags/tag10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2.xml"/></Relationships>
</file>

<file path=ppt/slides/_rels/slide1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tags" Target="../tags/tag13.xml"/></Relationships>
</file>

<file path=ppt/slides/_rels/slide1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tags" Target="../tags/tag14.xml"/></Relationships>
</file>

<file path=ppt/slides/_rels/slide1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tags" Target="../tags/tag15.xml"/></Relationships>
</file>

<file path=ppt/slides/_rels/slide16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20.png"/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tags" Target="../tags/tag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>
            <p:custDataLst>
              <p:tags r:id="rId1"/>
            </p:custDataLst>
          </p:nvPr>
        </p:nvSpPr>
        <p:spPr>
          <a:xfrm>
            <a:off x="1" y="0"/>
            <a:ext cx="12192000" cy="436983"/>
          </a:xfrm>
          <a:prstGeom prst="rect">
            <a:avLst/>
          </a:prstGeom>
          <a:solidFill>
            <a:srgbClr val="003570"/>
          </a:soli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endParaRPr lang="zh-CN" altLang="en-US" b="1" dirty="0">
              <a:solidFill>
                <a:schemeClr val="bg1"/>
              </a:solidFill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240665" y="685165"/>
            <a:ext cx="10829290" cy="23069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Markov Decision Process</a:t>
            </a:r>
            <a:endParaRPr lang="en-US" altLang="zh-CN"/>
          </a:p>
          <a:p>
            <a:endParaRPr lang="en-US" altLang="zh-CN"/>
          </a:p>
          <a:p>
            <a:r>
              <a:rPr lang="zh-CN" altLang="en-US"/>
              <a:t>用于形式化描述决策问题的数学框架</a:t>
            </a:r>
            <a:endParaRPr lang="en-US" altLang="zh-CN"/>
          </a:p>
          <a:p>
            <a:r>
              <a:rPr lang="zh-CN" altLang="en-US"/>
              <a:t>将智能体与环境的交互过程建模为具有马尔可夫性质的随机过程</a:t>
            </a:r>
            <a:endParaRPr lang="zh-CN" altLang="en-US"/>
          </a:p>
          <a:p>
            <a:r>
              <a:rPr lang="zh-CN" altLang="en-US"/>
              <a:t>马尔可夫</a:t>
            </a:r>
            <a:r>
              <a:rPr lang="zh-CN" altLang="en-US"/>
              <a:t>性质：随机过程的未来状态仅依赖于当前状态，而与过去状态无关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智能体可以通过选择不同的动作来影响状态转移的概率分布，</a:t>
            </a:r>
            <a:endParaRPr lang="zh-CN" altLang="en-US"/>
          </a:p>
          <a:p>
            <a:r>
              <a:rPr lang="zh-CN" altLang="en-US"/>
              <a:t>从而获得不同的即时奖励</a:t>
            </a:r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17690" y="2301875"/>
            <a:ext cx="4954270" cy="1953895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240665" y="3384550"/>
            <a:ext cx="7325360" cy="31381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状态空间：智能体可能遇到的所有情况的集合</a:t>
            </a:r>
            <a:endParaRPr lang="zh-CN" altLang="en-US"/>
          </a:p>
          <a:p>
            <a:r>
              <a:rPr lang="zh-CN" altLang="en-US"/>
              <a:t>动作空间：在每个状态下智能体可以执行的所有可能动作的集合</a:t>
            </a:r>
            <a:endParaRPr lang="zh-CN" altLang="en-US"/>
          </a:p>
          <a:p>
            <a:r>
              <a:rPr lang="zh-CN" altLang="en-US"/>
              <a:t>转移概率：在给定状态下执行特定动作后转移到新状态的概率分布</a:t>
            </a:r>
            <a:endParaRPr lang="zh-CN" altLang="en-US"/>
          </a:p>
          <a:p>
            <a:endParaRPr lang="zh-CN" altLang="en-US"/>
          </a:p>
          <a:p>
            <a:endParaRPr lang="zh-CN" altLang="en-US"/>
          </a:p>
          <a:p>
            <a:r>
              <a:rPr lang="zh-CN" altLang="en-US"/>
              <a:t>奖励函数：影响智能体的学习目标</a:t>
            </a:r>
            <a:endParaRPr lang="zh-CN" altLang="en-US"/>
          </a:p>
          <a:p>
            <a:r>
              <a:rPr lang="zh-CN" altLang="en-US"/>
              <a:t>折扣因子：平衡当前奖励与未来奖励的重要性</a:t>
            </a:r>
            <a:endParaRPr lang="zh-CN" altLang="en-US"/>
          </a:p>
          <a:p>
            <a:endParaRPr lang="zh-CN" altLang="en-US"/>
          </a:p>
          <a:p>
            <a:endParaRPr lang="zh-CN" altLang="en-US"/>
          </a:p>
          <a:p>
            <a:r>
              <a:rPr lang="zh-CN" altLang="en-US"/>
              <a:t>当</a:t>
            </a:r>
            <a:r>
              <a:rPr lang="en-US" altLang="zh-CN"/>
              <a:t>γ</a:t>
            </a:r>
            <a:r>
              <a:rPr lang="zh-CN" altLang="en-US"/>
              <a:t>接近0时，智能体更关注即时奖励，几乎不考虑未来后果；当</a:t>
            </a:r>
            <a:r>
              <a:rPr lang="en-US" altLang="zh-CN"/>
              <a:t>γ</a:t>
            </a:r>
            <a:r>
              <a:rPr lang="zh-CN" altLang="en-US"/>
              <a:t>接近1时，智能体会更重视长期回报，愿意为了远期收益而牺牲短期利益</a:t>
            </a:r>
            <a:endParaRPr lang="zh-CN" altLang="en-US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7180" y="4305935"/>
            <a:ext cx="1971675" cy="381000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0665" y="5408295"/>
            <a:ext cx="5629275" cy="42862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>
            <p:custDataLst>
              <p:tags r:id="rId1"/>
            </p:custDataLst>
          </p:nvPr>
        </p:nvSpPr>
        <p:spPr>
          <a:xfrm>
            <a:off x="1" y="0"/>
            <a:ext cx="12192000" cy="436983"/>
          </a:xfrm>
          <a:prstGeom prst="rect">
            <a:avLst/>
          </a:prstGeom>
          <a:solidFill>
            <a:srgbClr val="003570"/>
          </a:soli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endParaRPr lang="zh-CN" altLang="en-US" b="1" dirty="0">
              <a:solidFill>
                <a:schemeClr val="bg1"/>
              </a:solidFill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321310" y="737235"/>
            <a:ext cx="10199370" cy="39693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策略 </a:t>
            </a:r>
            <a:r>
              <a:rPr lang="en-US" altLang="zh-CN"/>
              <a:t>Policy</a:t>
            </a:r>
            <a:endParaRPr lang="en-US" altLang="zh-CN"/>
          </a:p>
          <a:p>
            <a:endParaRPr lang="en-US" altLang="zh-CN"/>
          </a:p>
          <a:p>
            <a:r>
              <a:rPr lang="zh-CN" altLang="en-US"/>
              <a:t>策略告诉智能体在每个状态下应该选择什么动作</a:t>
            </a:r>
            <a:endParaRPr lang="zh-CN" altLang="en-US"/>
          </a:p>
          <a:p>
            <a:r>
              <a:rPr lang="zh-CN" altLang="en-US"/>
              <a:t>确定性策略：</a:t>
            </a:r>
            <a:r>
              <a:rPr lang="en-US" altLang="zh-CN"/>
              <a:t>π(s) = a </a:t>
            </a:r>
            <a:r>
              <a:rPr lang="zh-CN" altLang="en-US"/>
              <a:t>在状态 </a:t>
            </a:r>
            <a:r>
              <a:rPr lang="en-US" altLang="zh-CN"/>
              <a:t>s，</a:t>
            </a:r>
            <a:r>
              <a:rPr lang="zh-CN" altLang="en-US"/>
              <a:t>永远选择动作 </a:t>
            </a:r>
            <a:r>
              <a:rPr lang="en-US" altLang="zh-CN"/>
              <a:t>a。</a:t>
            </a:r>
            <a:endParaRPr lang="en-US" altLang="zh-CN"/>
          </a:p>
          <a:p>
            <a:r>
              <a:rPr lang="zh-CN" altLang="en-US"/>
              <a:t>随机性策略：</a:t>
            </a:r>
            <a:r>
              <a:rPr lang="en-US" altLang="zh-CN"/>
              <a:t>π(a|s) = P(a|s) </a:t>
            </a:r>
            <a:r>
              <a:rPr lang="zh-CN" altLang="en-US"/>
              <a:t>在状态 </a:t>
            </a:r>
            <a:r>
              <a:rPr lang="en-US" altLang="zh-CN"/>
              <a:t>s，</a:t>
            </a:r>
            <a:r>
              <a:rPr lang="zh-CN" altLang="en-US"/>
              <a:t>以一定概率选择各个动作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值函数</a:t>
            </a:r>
            <a:endParaRPr lang="zh-CN" altLang="en-US"/>
          </a:p>
          <a:p>
            <a:r>
              <a:rPr lang="zh-CN" altLang="en-US"/>
              <a:t>状态值函数</a:t>
            </a:r>
            <a:r>
              <a:rPr lang="en-US" altLang="zh-CN"/>
              <a:t>Vπ(s) </a:t>
            </a:r>
            <a:r>
              <a:rPr lang="zh-CN" altLang="en-US"/>
              <a:t>：从状态</a:t>
            </a:r>
            <a:r>
              <a:rPr lang="en-US" altLang="zh-CN"/>
              <a:t>s</a:t>
            </a:r>
            <a:r>
              <a:rPr lang="zh-CN" altLang="en-US"/>
              <a:t>开始，遵循策略</a:t>
            </a:r>
            <a:r>
              <a:rPr lang="en-US" altLang="zh-CN"/>
              <a:t>π</a:t>
            </a:r>
            <a:r>
              <a:rPr lang="zh-CN" altLang="en-US"/>
              <a:t>所能获得的期望累积回报</a:t>
            </a:r>
            <a:endParaRPr lang="zh-CN" altLang="en-US"/>
          </a:p>
          <a:p>
            <a:endParaRPr lang="zh-CN" altLang="en-US"/>
          </a:p>
          <a:p>
            <a:endParaRPr lang="zh-CN" altLang="en-US"/>
          </a:p>
          <a:p>
            <a:endParaRPr lang="zh-CN" altLang="en-US"/>
          </a:p>
          <a:p>
            <a:endParaRPr lang="zh-CN" altLang="en-US"/>
          </a:p>
          <a:p>
            <a:r>
              <a:rPr lang="zh-CN" altLang="en-US"/>
              <a:t>动作值函数</a:t>
            </a:r>
            <a:r>
              <a:rPr lang="en-US" altLang="zh-CN"/>
              <a:t>Qπ(s,a)</a:t>
            </a:r>
            <a:r>
              <a:rPr lang="zh-CN" altLang="en-US"/>
              <a:t>：在状态</a:t>
            </a:r>
            <a:r>
              <a:rPr lang="en-US" altLang="zh-CN"/>
              <a:t>s</a:t>
            </a:r>
            <a:r>
              <a:rPr lang="zh-CN" altLang="en-US"/>
              <a:t>执行动作</a:t>
            </a:r>
            <a:r>
              <a:rPr lang="en-US" altLang="zh-CN"/>
              <a:t>a</a:t>
            </a:r>
            <a:r>
              <a:rPr lang="zh-CN" altLang="en-US"/>
              <a:t>后，遵循策略</a:t>
            </a:r>
            <a:r>
              <a:rPr lang="en-US" altLang="zh-CN"/>
              <a:t>π</a:t>
            </a:r>
            <a:r>
              <a:rPr lang="zh-CN" altLang="en-US"/>
              <a:t>所能获得的期望累积回报</a:t>
            </a:r>
            <a:endParaRPr lang="zh-CN" altLang="en-US"/>
          </a:p>
          <a:p>
            <a:r>
              <a:rPr lang="zh-CN" altLang="en-US"/>
              <a:t>状态值函数是该状态下所有可能动作值函数的加权平均，权重为策略在该状态下选择各动作的概率</a:t>
            </a:r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1325" y="3034030"/>
            <a:ext cx="3825875" cy="100076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15485" y="3127375"/>
            <a:ext cx="4442460" cy="81407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7510" y="4706620"/>
            <a:ext cx="3048000" cy="39052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>
            <p:custDataLst>
              <p:tags r:id="rId1"/>
            </p:custDataLst>
          </p:nvPr>
        </p:nvSpPr>
        <p:spPr>
          <a:xfrm>
            <a:off x="1" y="0"/>
            <a:ext cx="12192000" cy="436983"/>
          </a:xfrm>
          <a:prstGeom prst="rect">
            <a:avLst/>
          </a:prstGeom>
          <a:solidFill>
            <a:srgbClr val="003570"/>
          </a:soli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endParaRPr lang="zh-CN" altLang="en-US" b="1" dirty="0">
              <a:solidFill>
                <a:schemeClr val="bg1"/>
              </a:solidFill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321310" y="722630"/>
            <a:ext cx="6659880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求解</a:t>
            </a:r>
            <a:r>
              <a:rPr lang="en-US" altLang="zh-CN"/>
              <a:t>MDP</a:t>
            </a:r>
            <a:r>
              <a:rPr lang="zh-CN" altLang="en-US"/>
              <a:t>核心工具</a:t>
            </a:r>
            <a:endParaRPr lang="en-US" altLang="zh-CN"/>
          </a:p>
          <a:p>
            <a:r>
              <a:rPr lang="zh-CN" altLang="en-US"/>
              <a:t>贝尔曼</a:t>
            </a:r>
            <a:r>
              <a:rPr lang="zh-CN" altLang="en-US"/>
              <a:t>方程：当前价值和未来价值之间的递归关系</a:t>
            </a:r>
            <a:endParaRPr lang="zh-CN" altLang="en-US"/>
          </a:p>
          <a:p>
            <a:r>
              <a:rPr lang="zh-CN" altLang="en-US"/>
              <a:t>将长期回报分解为即时奖励和折扣后的未来回报，</a:t>
            </a:r>
            <a:endParaRPr lang="zh-CN" altLang="en-US"/>
          </a:p>
          <a:p>
            <a:r>
              <a:rPr lang="zh-CN" altLang="en-US"/>
              <a:t>这种递归结构使得我们可以使用迭代方法来求解值函数</a:t>
            </a:r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1775" y="641985"/>
            <a:ext cx="4705985" cy="828675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1775" y="1675765"/>
            <a:ext cx="5099685" cy="784860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321310" y="2099945"/>
            <a:ext cx="5774690" cy="42462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求解 </a:t>
            </a:r>
            <a:r>
              <a:rPr lang="en-US" altLang="zh-CN"/>
              <a:t>MDP </a:t>
            </a:r>
            <a:r>
              <a:rPr lang="zh-CN" altLang="en-US"/>
              <a:t>的主要方法</a:t>
            </a:r>
            <a:endParaRPr lang="zh-CN" altLang="en-US"/>
          </a:p>
          <a:p>
            <a:endParaRPr lang="zh-CN" altLang="en-US"/>
          </a:p>
          <a:p>
            <a:r>
              <a:rPr lang="zh-CN" altLang="en-US">
                <a:highlight>
                  <a:srgbClr val="FFFF00"/>
                </a:highlight>
              </a:rPr>
              <a:t>动态规划</a:t>
            </a:r>
            <a:r>
              <a:rPr lang="en-US" altLang="zh-CN">
                <a:highlight>
                  <a:srgbClr val="FFFF00"/>
                </a:highlight>
              </a:rPr>
              <a:t>  </a:t>
            </a:r>
            <a:r>
              <a:rPr lang="zh-CN" altLang="en-US"/>
              <a:t>需要知道完整的 </a:t>
            </a:r>
            <a:r>
              <a:rPr lang="en-US" altLang="zh-CN"/>
              <a:t>MDP </a:t>
            </a:r>
            <a:r>
              <a:rPr lang="zh-CN" altLang="en-US"/>
              <a:t>模型，即 </a:t>
            </a:r>
            <a:r>
              <a:rPr lang="en-US" altLang="zh-CN"/>
              <a:t>P </a:t>
            </a:r>
            <a:r>
              <a:rPr lang="zh-CN" altLang="en-US"/>
              <a:t>和 </a:t>
            </a:r>
            <a:r>
              <a:rPr lang="en-US" altLang="zh-CN"/>
              <a:t>R </a:t>
            </a:r>
            <a:r>
              <a:rPr lang="zh-CN" altLang="en-US"/>
              <a:t>已知</a:t>
            </a:r>
            <a:endParaRPr lang="zh-CN" altLang="en-US">
              <a:highlight>
                <a:srgbClr val="FFFF00"/>
              </a:highlight>
            </a:endParaRPr>
          </a:p>
          <a:p>
            <a:endParaRPr lang="en-US" altLang="zh-CN"/>
          </a:p>
          <a:p>
            <a:r>
              <a:rPr lang="en-US" altLang="zh-CN"/>
              <a:t>1 </a:t>
            </a:r>
            <a:r>
              <a:rPr lang="zh-CN" altLang="en-US"/>
              <a:t>策略迭代</a:t>
            </a:r>
            <a:endParaRPr lang="zh-CN" altLang="en-US"/>
          </a:p>
          <a:p>
            <a:r>
              <a:rPr lang="zh-CN" altLang="en-US"/>
              <a:t>步骤1：策略评估：给定一个策略，反复应用贝尔曼期望方程，计算出所有状态的 </a:t>
            </a:r>
            <a:r>
              <a:rPr lang="en-US" altLang="zh-CN"/>
              <a:t>V(s)。</a:t>
            </a:r>
            <a:endParaRPr lang="en-US" altLang="zh-CN"/>
          </a:p>
          <a:p>
            <a:endParaRPr lang="en-US" altLang="zh-CN"/>
          </a:p>
          <a:p>
            <a:r>
              <a:rPr lang="zh-CN" altLang="en-US"/>
              <a:t>步骤2：策略改进：对于每个状态，贪心</a:t>
            </a:r>
            <a:r>
              <a:rPr lang="zh-CN" altLang="en-US"/>
              <a:t>算法选择能带来最大 </a:t>
            </a:r>
            <a:r>
              <a:rPr lang="en-US" altLang="zh-CN"/>
              <a:t>Q </a:t>
            </a:r>
            <a:r>
              <a:rPr lang="zh-CN" altLang="en-US"/>
              <a:t>值的动作，更新策略 </a:t>
            </a:r>
            <a:r>
              <a:rPr lang="en-US" altLang="zh-CN"/>
              <a:t>π(s) = argmax_a Q(s, a)</a:t>
            </a:r>
            <a:endParaRPr lang="en-US" altLang="zh-CN"/>
          </a:p>
          <a:p>
            <a:r>
              <a:rPr lang="zh-CN" altLang="en-US"/>
              <a:t> </a:t>
            </a:r>
            <a:endParaRPr lang="zh-CN" altLang="en-US"/>
          </a:p>
          <a:p>
            <a:r>
              <a:rPr lang="en-US" altLang="zh-CN"/>
              <a:t>2 </a:t>
            </a:r>
            <a:r>
              <a:rPr lang="zh-CN" altLang="en-US"/>
              <a:t>值迭代</a:t>
            </a:r>
            <a:endParaRPr lang="zh-CN" altLang="en-US"/>
          </a:p>
          <a:p>
            <a:endParaRPr lang="zh-CN" altLang="en-US"/>
          </a:p>
          <a:p>
            <a:endParaRPr lang="zh-CN" altLang="en-US"/>
          </a:p>
          <a:p>
            <a:endParaRPr lang="zh-CN" altLang="en-US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8465" y="5443220"/>
            <a:ext cx="4243705" cy="495935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0855" y="5939155"/>
            <a:ext cx="2454910" cy="348615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58260" y="5939155"/>
            <a:ext cx="5353050" cy="40703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>
            <p:custDataLst>
              <p:tags r:id="rId1"/>
            </p:custDataLst>
          </p:nvPr>
        </p:nvSpPr>
        <p:spPr>
          <a:xfrm>
            <a:off x="0" y="10850"/>
            <a:ext cx="12192000" cy="436983"/>
          </a:xfrm>
          <a:prstGeom prst="rect">
            <a:avLst/>
          </a:prstGeom>
          <a:solidFill>
            <a:srgbClr val="003570"/>
          </a:soli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文本框 1"/>
          <p:cNvSpPr txBox="1"/>
          <p:nvPr/>
        </p:nvSpPr>
        <p:spPr>
          <a:xfrm>
            <a:off x="412115" y="1595755"/>
            <a:ext cx="10051415" cy="1476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SARSA    State-Action-Reward-State-Action</a:t>
            </a:r>
            <a:endParaRPr lang="en-US" altLang="zh-CN"/>
          </a:p>
          <a:p>
            <a:endParaRPr lang="en-US" altLang="zh-CN"/>
          </a:p>
          <a:p>
            <a:r>
              <a:rPr lang="en-US" altLang="zh-CN"/>
              <a:t>SARSA </a:t>
            </a:r>
            <a:r>
              <a:rPr lang="zh-CN" altLang="en-US"/>
              <a:t>是一种</a:t>
            </a:r>
            <a:r>
              <a:rPr lang="zh-CN" altLang="en-US"/>
              <a:t>同策略（</a:t>
            </a:r>
            <a:r>
              <a:rPr lang="en-US" altLang="zh-CN"/>
              <a:t>On-Policy）</a:t>
            </a:r>
            <a:r>
              <a:rPr lang="zh-CN" altLang="en-US"/>
              <a:t>时序差分学习算法。 它让智能体（</a:t>
            </a:r>
            <a:r>
              <a:rPr lang="en-US" altLang="zh-CN"/>
              <a:t>Agent）</a:t>
            </a:r>
            <a:r>
              <a:rPr lang="zh-CN" altLang="en-US"/>
              <a:t>通过与环境交互，学习每个状态下每个动作的价值（</a:t>
            </a:r>
            <a:r>
              <a:rPr lang="en-US" altLang="zh-CN"/>
              <a:t>Q</a:t>
            </a:r>
            <a:r>
              <a:rPr lang="zh-CN" altLang="en-US"/>
              <a:t>值）， 从而逐步掌握最优策略。名字来源于它更新所用的五元组： (</a:t>
            </a:r>
            <a:r>
              <a:rPr lang="en-US" altLang="zh-CN"/>
              <a:t>S, A, R, S', A')</a:t>
            </a:r>
            <a:endParaRPr lang="en-US" altLang="zh-CN"/>
          </a:p>
        </p:txBody>
      </p:sp>
      <p:sp>
        <p:nvSpPr>
          <p:cNvPr id="3" name="文本框 2"/>
          <p:cNvSpPr txBox="1"/>
          <p:nvPr/>
        </p:nvSpPr>
        <p:spPr>
          <a:xfrm>
            <a:off x="412115" y="3149600"/>
            <a:ext cx="52514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Q(S, A)←Q(S, A)+α·[R+γ·Q(S', A')-Q(S, A)]</a:t>
            </a:r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372110" y="3613150"/>
            <a:ext cx="4064000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α  </a:t>
            </a:r>
            <a:r>
              <a:rPr lang="zh-CN" altLang="en-US"/>
              <a:t>学习率</a:t>
            </a:r>
            <a:endParaRPr lang="zh-CN" altLang="en-US"/>
          </a:p>
          <a:p>
            <a:r>
              <a:rPr lang="en-US" altLang="zh-CN"/>
              <a:t>(0, 1]</a:t>
            </a:r>
            <a:endParaRPr lang="en-US" altLang="zh-CN"/>
          </a:p>
          <a:p>
            <a:r>
              <a:rPr lang="zh-CN" altLang="en-US"/>
              <a:t>控制每次更新的步长大小，越大学得越快但越不稳定</a:t>
            </a:r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6350000" y="3429000"/>
            <a:ext cx="4064000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γ </a:t>
            </a:r>
            <a:r>
              <a:rPr lang="zh-CN" altLang="en-US"/>
              <a:t>折扣因子</a:t>
            </a:r>
            <a:endParaRPr lang="zh-CN" altLang="en-US"/>
          </a:p>
          <a:p>
            <a:r>
              <a:rPr lang="en-US" altLang="zh-CN"/>
              <a:t>[0, 1]</a:t>
            </a:r>
            <a:endParaRPr lang="en-US" altLang="zh-CN"/>
          </a:p>
          <a:p>
            <a:r>
              <a:rPr lang="zh-CN" altLang="en-US"/>
              <a:t>控制对未来奖励的重视程度，越大越有远见</a:t>
            </a:r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372110" y="4959985"/>
            <a:ext cx="4064000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R </a:t>
            </a:r>
            <a:r>
              <a:rPr lang="zh-CN" altLang="en-US"/>
              <a:t>即时奖励</a:t>
            </a:r>
            <a:endParaRPr lang="zh-CN" altLang="en-US"/>
          </a:p>
          <a:p>
            <a:r>
              <a:rPr lang="zh-CN" altLang="en-US"/>
              <a:t>实数</a:t>
            </a:r>
            <a:endParaRPr lang="zh-CN" altLang="en-US"/>
          </a:p>
          <a:p>
            <a:r>
              <a:rPr lang="zh-CN" altLang="en-US"/>
              <a:t>执行动作</a:t>
            </a:r>
            <a:r>
              <a:rPr lang="en-US" altLang="zh-CN"/>
              <a:t>A</a:t>
            </a:r>
            <a:r>
              <a:rPr lang="zh-CN" altLang="en-US"/>
              <a:t>后从环境获得的即时反馈信号</a:t>
            </a:r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6350000" y="5028565"/>
            <a:ext cx="4064000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Q(S',A') </a:t>
            </a:r>
            <a:r>
              <a:rPr lang="zh-CN" altLang="en-US"/>
              <a:t>下一</a:t>
            </a:r>
            <a:r>
              <a:rPr lang="en-US" altLang="zh-CN"/>
              <a:t>Q</a:t>
            </a:r>
            <a:r>
              <a:rPr lang="zh-CN" altLang="en-US"/>
              <a:t>值</a:t>
            </a:r>
            <a:endParaRPr lang="zh-CN" altLang="en-US"/>
          </a:p>
          <a:p>
            <a:r>
              <a:rPr lang="zh-CN" altLang="en-US"/>
              <a:t>关键区别</a:t>
            </a:r>
            <a:endParaRPr lang="zh-CN" altLang="en-US"/>
          </a:p>
          <a:p>
            <a:r>
              <a:rPr lang="zh-CN" altLang="en-US"/>
              <a:t>使用当前策略在</a:t>
            </a:r>
            <a:r>
              <a:rPr lang="en-US" altLang="zh-CN"/>
              <a:t>S'</a:t>
            </a:r>
            <a:r>
              <a:rPr lang="zh-CN" altLang="en-US"/>
              <a:t>选择的</a:t>
            </a:r>
            <a:r>
              <a:rPr lang="en-US" altLang="zh-CN"/>
              <a:t>A'</a:t>
            </a:r>
            <a:r>
              <a:rPr lang="zh-CN" altLang="en-US"/>
              <a:t>的</a:t>
            </a:r>
            <a:r>
              <a:rPr lang="en-US" altLang="zh-CN"/>
              <a:t>Q</a:t>
            </a:r>
            <a:r>
              <a:rPr lang="zh-CN" altLang="en-US"/>
              <a:t>值（非最大值）</a:t>
            </a:r>
            <a:endParaRPr lang="zh-CN" altLang="en-US"/>
          </a:p>
        </p:txBody>
      </p:sp>
      <p:sp>
        <p:nvSpPr>
          <p:cNvPr id="8" name="文本框 7"/>
          <p:cNvSpPr txBox="1"/>
          <p:nvPr/>
        </p:nvSpPr>
        <p:spPr>
          <a:xfrm>
            <a:off x="412115" y="560705"/>
            <a:ext cx="8415020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highlight>
                  <a:srgbClr val="FFFF00"/>
                </a:highlight>
              </a:rPr>
              <a:t>强化学习</a:t>
            </a:r>
            <a:endParaRPr lang="zh-CN" altLang="en-US">
              <a:highlight>
                <a:srgbClr val="FFFF00"/>
              </a:highlight>
            </a:endParaRPr>
          </a:p>
          <a:p>
            <a:r>
              <a:rPr lang="zh-CN" altLang="en-US"/>
              <a:t>当环境的转移概率和奖励函数未知时，无法使用动态规划。</a:t>
            </a:r>
            <a:endParaRPr lang="zh-CN" altLang="en-US"/>
          </a:p>
          <a:p>
            <a:r>
              <a:rPr lang="zh-CN" altLang="en-US"/>
              <a:t>需要强化学习，智能体通过与环境交互、试错来学习</a:t>
            </a:r>
            <a:endParaRPr lang="zh-CN" alt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>
            <p:custDataLst>
              <p:tags r:id="rId1"/>
            </p:custDataLst>
          </p:nvPr>
        </p:nvSpPr>
        <p:spPr>
          <a:xfrm>
            <a:off x="0" y="10850"/>
            <a:ext cx="12192000" cy="436983"/>
          </a:xfrm>
          <a:prstGeom prst="rect">
            <a:avLst/>
          </a:prstGeom>
          <a:solidFill>
            <a:srgbClr val="003570"/>
          </a:soli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文本框 1"/>
          <p:cNvSpPr txBox="1"/>
          <p:nvPr/>
        </p:nvSpPr>
        <p:spPr>
          <a:xfrm>
            <a:off x="1127125" y="1356995"/>
            <a:ext cx="4064000" cy="45231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初始化</a:t>
            </a:r>
            <a:r>
              <a:rPr lang="en-US" altLang="zh-CN"/>
              <a:t>Q</a:t>
            </a:r>
            <a:r>
              <a:rPr lang="zh-CN" altLang="en-US"/>
              <a:t>表</a:t>
            </a:r>
            <a:endParaRPr lang="zh-CN" altLang="en-US"/>
          </a:p>
          <a:p>
            <a:r>
              <a:rPr lang="zh-CN" altLang="en-US"/>
              <a:t>将所有状态-动作对的</a:t>
            </a:r>
            <a:r>
              <a:rPr lang="en-US" altLang="zh-CN"/>
              <a:t>Q</a:t>
            </a:r>
            <a:r>
              <a:rPr lang="zh-CN" altLang="en-US"/>
              <a:t>值初始化为0（或随机小值）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观察当前状态 </a:t>
            </a:r>
            <a:r>
              <a:rPr lang="en-US" altLang="zh-CN"/>
              <a:t>S</a:t>
            </a:r>
            <a:endParaRPr lang="en-US" altLang="zh-CN"/>
          </a:p>
          <a:p>
            <a:r>
              <a:rPr lang="zh-CN" altLang="en-US"/>
              <a:t>智能体感知当前环境，获得状态</a:t>
            </a:r>
            <a:r>
              <a:rPr lang="en-US" altLang="zh-CN"/>
              <a:t>S</a:t>
            </a:r>
            <a:endParaRPr lang="en-US" altLang="zh-CN"/>
          </a:p>
          <a:p>
            <a:endParaRPr lang="en-US" altLang="zh-CN"/>
          </a:p>
          <a:p>
            <a:r>
              <a:rPr lang="zh-CN" altLang="en-US"/>
              <a:t>选择动作 </a:t>
            </a:r>
            <a:r>
              <a:rPr lang="en-US" altLang="zh-CN"/>
              <a:t>A</a:t>
            </a:r>
            <a:endParaRPr lang="en-US" altLang="zh-CN"/>
          </a:p>
          <a:p>
            <a:r>
              <a:rPr lang="zh-CN" altLang="en-US"/>
              <a:t>使用 </a:t>
            </a:r>
            <a:r>
              <a:rPr lang="en-US" altLang="zh-CN"/>
              <a:t>ε-</a:t>
            </a:r>
            <a:r>
              <a:rPr lang="zh-CN" altLang="en-US"/>
              <a:t>贪心策略：以</a:t>
            </a:r>
            <a:r>
              <a:rPr lang="en-US" altLang="zh-CN"/>
              <a:t>ε</a:t>
            </a:r>
            <a:r>
              <a:rPr lang="zh-CN" altLang="en-US"/>
              <a:t>概率随机探索，以1-</a:t>
            </a:r>
            <a:r>
              <a:rPr lang="en-US" altLang="zh-CN"/>
              <a:t>ε</a:t>
            </a:r>
            <a:r>
              <a:rPr lang="zh-CN" altLang="en-US"/>
              <a:t>概率选择</a:t>
            </a:r>
            <a:r>
              <a:rPr lang="en-US" altLang="zh-CN"/>
              <a:t>Q</a:t>
            </a:r>
            <a:r>
              <a:rPr lang="zh-CN" altLang="en-US"/>
              <a:t>值最大的动作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执行动作，获得 </a:t>
            </a:r>
            <a:r>
              <a:rPr lang="en-US" altLang="zh-CN"/>
              <a:t>R </a:t>
            </a:r>
            <a:r>
              <a:rPr lang="zh-CN" altLang="en-US"/>
              <a:t>和 </a:t>
            </a:r>
            <a:r>
              <a:rPr lang="en-US" altLang="zh-CN"/>
              <a:t>S'</a:t>
            </a:r>
            <a:endParaRPr lang="en-US" altLang="zh-CN"/>
          </a:p>
          <a:p>
            <a:r>
              <a:rPr lang="zh-CN" altLang="en-US"/>
              <a:t>在环境中执行动作</a:t>
            </a:r>
            <a:r>
              <a:rPr lang="en-US" altLang="zh-CN"/>
              <a:t>A，</a:t>
            </a:r>
            <a:r>
              <a:rPr lang="zh-CN" altLang="en-US"/>
              <a:t>观察奖励</a:t>
            </a:r>
            <a:r>
              <a:rPr lang="en-US" altLang="zh-CN"/>
              <a:t>R</a:t>
            </a:r>
            <a:r>
              <a:rPr lang="zh-CN" altLang="en-US"/>
              <a:t>和新状态</a:t>
            </a:r>
            <a:r>
              <a:rPr lang="en-US" altLang="zh-CN"/>
              <a:t>S'</a:t>
            </a:r>
            <a:endParaRPr lang="en-US" altLang="zh-CN"/>
          </a:p>
          <a:p>
            <a:endParaRPr lang="en-US" altLang="zh-CN"/>
          </a:p>
          <a:p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5889625" y="1721485"/>
            <a:ext cx="4064000" cy="34150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ym typeface="+mn-ea"/>
              </a:rPr>
              <a:t>选择下一动作 </a:t>
            </a:r>
            <a:r>
              <a:rPr lang="en-US" altLang="zh-CN">
                <a:sym typeface="+mn-ea"/>
              </a:rPr>
              <a:t>A'</a:t>
            </a:r>
            <a:endParaRPr lang="zh-CN" altLang="en-US"/>
          </a:p>
          <a:p>
            <a:r>
              <a:rPr lang="zh-CN" altLang="en-US">
                <a:sym typeface="+mn-ea"/>
              </a:rPr>
              <a:t>在新状态</a:t>
            </a:r>
            <a:r>
              <a:rPr lang="en-US" altLang="zh-CN">
                <a:sym typeface="+mn-ea"/>
              </a:rPr>
              <a:t>S'</a:t>
            </a:r>
            <a:r>
              <a:rPr lang="zh-CN" altLang="en-US">
                <a:sym typeface="+mn-ea"/>
              </a:rPr>
              <a:t>中，再次使用相同的</a:t>
            </a:r>
            <a:r>
              <a:rPr lang="en-US" altLang="zh-CN">
                <a:sym typeface="+mn-ea"/>
              </a:rPr>
              <a:t>ε-</a:t>
            </a:r>
            <a:r>
              <a:rPr lang="zh-CN" altLang="en-US">
                <a:sym typeface="+mn-ea"/>
              </a:rPr>
              <a:t>贪心策略选择动作</a:t>
            </a:r>
            <a:r>
              <a:rPr lang="en-US" altLang="zh-CN">
                <a:sym typeface="+mn-ea"/>
              </a:rPr>
              <a:t>A'</a:t>
            </a:r>
            <a:endParaRPr lang="en-US" altLang="zh-CN"/>
          </a:p>
          <a:p>
            <a:endParaRPr lang="zh-CN" altLang="en-US"/>
          </a:p>
          <a:p>
            <a:r>
              <a:rPr lang="zh-CN" altLang="en-US">
                <a:sym typeface="+mn-ea"/>
              </a:rPr>
              <a:t>更新</a:t>
            </a:r>
            <a:r>
              <a:rPr lang="en-US" altLang="zh-CN">
                <a:sym typeface="+mn-ea"/>
              </a:rPr>
              <a:t>Q</a:t>
            </a:r>
            <a:r>
              <a:rPr lang="zh-CN" altLang="en-US">
                <a:sym typeface="+mn-ea"/>
              </a:rPr>
              <a:t>值</a:t>
            </a:r>
            <a:endParaRPr lang="zh-CN" altLang="en-US"/>
          </a:p>
          <a:p>
            <a:r>
              <a:rPr lang="zh-CN" altLang="en-US">
                <a:sym typeface="+mn-ea"/>
              </a:rPr>
              <a:t>使用</a:t>
            </a:r>
            <a:r>
              <a:rPr lang="en-US" altLang="zh-CN">
                <a:sym typeface="+mn-ea"/>
              </a:rPr>
              <a:t>SARSA</a:t>
            </a:r>
            <a:r>
              <a:rPr lang="zh-CN" altLang="en-US">
                <a:sym typeface="+mn-ea"/>
              </a:rPr>
              <a:t>公式：</a:t>
            </a:r>
            <a:r>
              <a:rPr lang="en-US" altLang="zh-CN">
                <a:sym typeface="+mn-ea"/>
              </a:rPr>
              <a:t>Q(S,A) ← Q(S,A) + α·[R + γ·Q(S',A') - Q(S,A)]</a:t>
            </a:r>
            <a:endParaRPr lang="en-US" altLang="zh-CN"/>
          </a:p>
          <a:p>
            <a:endParaRPr lang="en-US" altLang="zh-CN"/>
          </a:p>
          <a:p>
            <a:r>
              <a:rPr lang="en-US" altLang="zh-CN">
                <a:sym typeface="+mn-ea"/>
              </a:rPr>
              <a:t>S←S', A←A'，</a:t>
            </a:r>
            <a:r>
              <a:rPr lang="zh-CN" altLang="en-US">
                <a:sym typeface="+mn-ea"/>
              </a:rPr>
              <a:t>继续迭代</a:t>
            </a:r>
            <a:endParaRPr lang="zh-CN" altLang="en-US"/>
          </a:p>
          <a:p>
            <a:r>
              <a:rPr lang="zh-CN" altLang="en-US">
                <a:sym typeface="+mn-ea"/>
              </a:rPr>
              <a:t>将当前状态和动作更新，重复步骤3-6直到收敛</a:t>
            </a:r>
            <a:endParaRPr lang="zh-CN" altLang="en-US"/>
          </a:p>
          <a:p>
            <a:endParaRPr lang="zh-CN" alt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>
            <p:custDataLst>
              <p:tags r:id="rId1"/>
            </p:custDataLst>
          </p:nvPr>
        </p:nvSpPr>
        <p:spPr>
          <a:xfrm>
            <a:off x="0" y="10850"/>
            <a:ext cx="12192000" cy="436983"/>
          </a:xfrm>
          <a:prstGeom prst="rect">
            <a:avLst/>
          </a:prstGeom>
          <a:solidFill>
            <a:srgbClr val="003570"/>
          </a:soli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8925" y="668020"/>
            <a:ext cx="4095750" cy="3028950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8925" y="4003675"/>
            <a:ext cx="4143375" cy="1990725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5142865" y="78803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环境</a:t>
            </a:r>
            <a:r>
              <a:rPr lang="zh-CN" altLang="en-US"/>
              <a:t>设置</a:t>
            </a:r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5142865" y="4194175"/>
            <a:ext cx="4064000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初始化</a:t>
            </a:r>
            <a:r>
              <a:rPr lang="en-US" altLang="zh-CN"/>
              <a:t>Q</a:t>
            </a:r>
            <a:r>
              <a:rPr lang="zh-CN" altLang="en-US"/>
              <a:t>表</a:t>
            </a:r>
            <a:endParaRPr lang="zh-CN" altLang="en-US"/>
          </a:p>
          <a:p>
            <a:r>
              <a:rPr lang="en-US" altLang="zh-CN"/>
              <a:t>Q</a:t>
            </a:r>
            <a:r>
              <a:rPr lang="zh-CN" altLang="en-US"/>
              <a:t>表是一个 状态×动作 的二维矩阵，记录每个状态下每个动作的预期累计奖励</a:t>
            </a:r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5142865" y="1356995"/>
            <a:ext cx="4064000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使用一个 4×4 的网格世界作为例子：智能体从左上角出发，目标是到达右下角</a:t>
            </a:r>
            <a:endParaRPr lang="zh-CN" alt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>
            <p:custDataLst>
              <p:tags r:id="rId1"/>
            </p:custDataLst>
          </p:nvPr>
        </p:nvSpPr>
        <p:spPr>
          <a:xfrm>
            <a:off x="0" y="10850"/>
            <a:ext cx="12192000" cy="436983"/>
          </a:xfrm>
          <a:prstGeom prst="rect">
            <a:avLst/>
          </a:prstGeom>
          <a:solidFill>
            <a:srgbClr val="003570"/>
          </a:soli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7066915" y="3151505"/>
            <a:ext cx="4064000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环境交互</a:t>
            </a:r>
            <a:endParaRPr lang="zh-CN" altLang="en-US"/>
          </a:p>
          <a:p>
            <a:r>
              <a:rPr lang="zh-CN" altLang="en-US"/>
              <a:t>定义智能体如何在网格中移动，以及如何获得奖励（到达终点+1，否则-0.01惩罚）</a:t>
            </a:r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7830" y="781050"/>
            <a:ext cx="6324600" cy="52959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>
            <p:custDataLst>
              <p:tags r:id="rId1"/>
            </p:custDataLst>
          </p:nvPr>
        </p:nvSpPr>
        <p:spPr>
          <a:xfrm>
            <a:off x="0" y="10850"/>
            <a:ext cx="12192000" cy="436983"/>
          </a:xfrm>
          <a:prstGeom prst="rect">
            <a:avLst/>
          </a:prstGeom>
          <a:solidFill>
            <a:srgbClr val="003570"/>
          </a:soli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6695" y="763905"/>
            <a:ext cx="5181600" cy="2914650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5958205" y="1621790"/>
            <a:ext cx="4064000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ε-</a:t>
            </a:r>
            <a:r>
              <a:rPr lang="zh-CN" altLang="en-US"/>
              <a:t>贪心策略</a:t>
            </a:r>
            <a:endParaRPr lang="zh-CN" altLang="en-US"/>
          </a:p>
          <a:p>
            <a:r>
              <a:rPr lang="zh-CN" altLang="en-US"/>
              <a:t>以 </a:t>
            </a:r>
            <a:r>
              <a:rPr lang="en-US" altLang="zh-CN"/>
              <a:t>ε </a:t>
            </a:r>
            <a:r>
              <a:rPr lang="zh-CN" altLang="en-US"/>
              <a:t>概率随机探索（发现新路径），以 1-</a:t>
            </a:r>
            <a:r>
              <a:rPr lang="en-US" altLang="zh-CN"/>
              <a:t>ε </a:t>
            </a:r>
            <a:r>
              <a:rPr lang="zh-CN" altLang="en-US"/>
              <a:t>概率利用已学知识（选</a:t>
            </a:r>
            <a:r>
              <a:rPr lang="en-US" altLang="zh-CN"/>
              <a:t>Q</a:t>
            </a:r>
            <a:r>
              <a:rPr lang="zh-CN" altLang="en-US"/>
              <a:t>值最大的动作）。</a:t>
            </a:r>
            <a:endParaRPr lang="zh-CN" altLang="en-US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6740" y="3994785"/>
            <a:ext cx="4457700" cy="198564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>
            <p:custDataLst>
              <p:tags r:id="rId1"/>
            </p:custDataLst>
          </p:nvPr>
        </p:nvSpPr>
        <p:spPr>
          <a:xfrm>
            <a:off x="0" y="10850"/>
            <a:ext cx="12192000" cy="436983"/>
          </a:xfrm>
          <a:prstGeom prst="rect">
            <a:avLst/>
          </a:prstGeom>
          <a:solidFill>
            <a:srgbClr val="003570"/>
          </a:soli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972820" y="4284345"/>
            <a:ext cx="4064000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SARSA </a:t>
            </a:r>
            <a:r>
              <a:rPr lang="zh-CN" altLang="en-US"/>
              <a:t>主训练循环</a:t>
            </a:r>
            <a:endParaRPr lang="zh-CN" altLang="en-US"/>
          </a:p>
          <a:p>
            <a:r>
              <a:rPr lang="zh-CN" altLang="en-US"/>
              <a:t>这是</a:t>
            </a:r>
            <a:r>
              <a:rPr lang="en-US" altLang="zh-CN"/>
              <a:t>SARSA</a:t>
            </a:r>
            <a:r>
              <a:rPr lang="zh-CN" altLang="en-US"/>
              <a:t>的核心：每一步都需要提前选好下一动作</a:t>
            </a:r>
            <a:r>
              <a:rPr lang="en-US" altLang="zh-CN"/>
              <a:t>A'，</a:t>
            </a:r>
            <a:r>
              <a:rPr lang="zh-CN" altLang="en-US"/>
              <a:t>用它来更新当前</a:t>
            </a:r>
            <a:r>
              <a:rPr lang="en-US" altLang="zh-CN"/>
              <a:t>Q</a:t>
            </a:r>
            <a:r>
              <a:rPr lang="zh-CN" altLang="en-US"/>
              <a:t>值</a:t>
            </a:r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5425" y="808355"/>
            <a:ext cx="5962650" cy="3114675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8735" y="808355"/>
            <a:ext cx="5400675" cy="4838700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972820" y="5844540"/>
            <a:ext cx="7098665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与</a:t>
            </a:r>
            <a:r>
              <a:rPr lang="en-US" altLang="zh-CN"/>
              <a:t>Q-Learning</a:t>
            </a:r>
            <a:r>
              <a:rPr lang="zh-CN" altLang="en-US"/>
              <a:t>的区别</a:t>
            </a:r>
            <a:endParaRPr lang="zh-CN" altLang="en-US"/>
          </a:p>
          <a:p>
            <a:r>
              <a:rPr lang="en-US" altLang="zh-CN"/>
              <a:t>Q-Learning</a:t>
            </a:r>
            <a:r>
              <a:rPr lang="zh-CN" altLang="en-US"/>
              <a:t>会用 </a:t>
            </a:r>
            <a:r>
              <a:rPr lang="en-US" altLang="zh-CN"/>
              <a:t>np.max(Q[s__idx])（</a:t>
            </a:r>
            <a:r>
              <a:rPr lang="zh-CN" altLang="en-US"/>
              <a:t>最优动作的</a:t>
            </a:r>
            <a:r>
              <a:rPr lang="en-US" altLang="zh-CN"/>
              <a:t>Q</a:t>
            </a:r>
            <a:r>
              <a:rPr lang="zh-CN" altLang="en-US"/>
              <a:t>值），而</a:t>
            </a:r>
            <a:r>
              <a:rPr lang="en-US" altLang="zh-CN"/>
              <a:t>SARSA</a:t>
            </a:r>
            <a:r>
              <a:rPr lang="zh-CN" altLang="en-US"/>
              <a:t>使用 </a:t>
            </a:r>
            <a:r>
              <a:rPr lang="en-US" altLang="zh-CN"/>
              <a:t>Q[s__idx, A_]（</a:t>
            </a:r>
            <a:r>
              <a:rPr lang="zh-CN" altLang="en-US"/>
              <a:t>实际执行的</a:t>
            </a:r>
            <a:r>
              <a:rPr lang="en-US" altLang="zh-CN"/>
              <a:t>A'</a:t>
            </a:r>
            <a:r>
              <a:rPr lang="zh-CN" altLang="en-US"/>
              <a:t>的</a:t>
            </a:r>
            <a:r>
              <a:rPr lang="en-US" altLang="zh-CN"/>
              <a:t>Q</a:t>
            </a:r>
            <a:r>
              <a:rPr lang="zh-CN" altLang="en-US"/>
              <a:t>值）</a:t>
            </a:r>
            <a:endParaRPr lang="zh-CN" alt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>
            <p:custDataLst>
              <p:tags r:id="rId1"/>
            </p:custDataLst>
          </p:nvPr>
        </p:nvSpPr>
        <p:spPr>
          <a:xfrm>
            <a:off x="0" y="10850"/>
            <a:ext cx="12192000" cy="436983"/>
          </a:xfrm>
          <a:prstGeom prst="rect">
            <a:avLst/>
          </a:prstGeom>
          <a:solidFill>
            <a:srgbClr val="003570"/>
          </a:soli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7035" y="764540"/>
            <a:ext cx="4953000" cy="441007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6096000" y="883920"/>
            <a:ext cx="4064000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提取学到的最优策略</a:t>
            </a:r>
            <a:endParaRPr lang="zh-CN" altLang="en-US"/>
          </a:p>
          <a:p>
            <a:r>
              <a:rPr lang="zh-CN" altLang="en-US"/>
              <a:t>训练完成后，对每个状态取</a:t>
            </a:r>
            <a:r>
              <a:rPr lang="en-US" altLang="zh-CN"/>
              <a:t>Q</a:t>
            </a:r>
            <a:r>
              <a:rPr lang="zh-CN" altLang="en-US"/>
              <a:t>值最大的动作，即为学到的最优策略</a:t>
            </a:r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68390" y="2660015"/>
            <a:ext cx="2700655" cy="2514600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407035" y="5402580"/>
            <a:ext cx="8568690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用同一个策略来选择动作和更新</a:t>
            </a:r>
            <a:r>
              <a:rPr lang="en-US" altLang="zh-CN"/>
              <a:t>Q</a:t>
            </a:r>
            <a:r>
              <a:rPr lang="zh-CN" altLang="en-US"/>
              <a:t>值。 在更新公式中，</a:t>
            </a:r>
            <a:r>
              <a:rPr lang="en-US" altLang="zh-CN"/>
              <a:t>Q(S', A') </a:t>
            </a:r>
            <a:r>
              <a:rPr lang="zh-CN" altLang="en-US"/>
              <a:t>中的 </a:t>
            </a:r>
            <a:r>
              <a:rPr lang="en-US" altLang="zh-CN"/>
              <a:t>A' </a:t>
            </a:r>
            <a:r>
              <a:rPr lang="zh-CN" altLang="en-US"/>
              <a:t>是由当前策略（带探索的</a:t>
            </a:r>
            <a:r>
              <a:rPr lang="en-US" altLang="zh-CN"/>
              <a:t>ε-</a:t>
            </a:r>
            <a:r>
              <a:rPr lang="zh-CN" altLang="en-US"/>
              <a:t>贪心）选出的， 而非理论最优动作。这使得 </a:t>
            </a:r>
            <a:r>
              <a:rPr lang="en-US" altLang="zh-CN"/>
              <a:t>SARSA </a:t>
            </a:r>
            <a:r>
              <a:rPr lang="zh-CN" altLang="en-US"/>
              <a:t>更加保守安全， 学到的是考虑了探索行为的实际可用策略</a:t>
            </a:r>
            <a:endParaRPr lang="zh-CN" alt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>
            <p:custDataLst>
              <p:tags r:id="rId1"/>
            </p:custDataLst>
          </p:nvPr>
        </p:nvSpPr>
        <p:spPr>
          <a:xfrm>
            <a:off x="0" y="10850"/>
            <a:ext cx="12192000" cy="436983"/>
          </a:xfrm>
          <a:prstGeom prst="rect">
            <a:avLst/>
          </a:prstGeom>
          <a:solidFill>
            <a:srgbClr val="003570"/>
          </a:soli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614680" y="70675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Q-Learning</a:t>
            </a:r>
            <a:endParaRPr lang="en-US" altLang="zh-CN"/>
          </a:p>
        </p:txBody>
      </p:sp>
      <p:sp>
        <p:nvSpPr>
          <p:cNvPr id="4" name="文本框 3"/>
          <p:cNvSpPr txBox="1"/>
          <p:nvPr/>
        </p:nvSpPr>
        <p:spPr>
          <a:xfrm>
            <a:off x="520700" y="1334135"/>
            <a:ext cx="5575935" cy="1476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Q-Learning </a:t>
            </a:r>
            <a:r>
              <a:rPr lang="zh-CN" altLang="en-US"/>
              <a:t>是一种</a:t>
            </a:r>
            <a:r>
              <a:rPr lang="zh-CN" altLang="en-US"/>
              <a:t>异策略（</a:t>
            </a:r>
            <a:r>
              <a:rPr lang="en-US" altLang="zh-CN"/>
              <a:t>Off-Policy）</a:t>
            </a:r>
            <a:r>
              <a:rPr lang="zh-CN" altLang="en-US"/>
              <a:t>时序差分算法。 它让智能体学习一张 </a:t>
            </a:r>
            <a:r>
              <a:rPr lang="en-US" altLang="zh-CN"/>
              <a:t>Q </a:t>
            </a:r>
            <a:r>
              <a:rPr lang="zh-CN" altLang="en-US"/>
              <a:t>表， 记录每个状态下每个动作的"长期价值"。它的独特之处在于： 更新 </a:t>
            </a:r>
            <a:r>
              <a:rPr lang="en-US" altLang="zh-CN"/>
              <a:t>Q </a:t>
            </a:r>
            <a:r>
              <a:rPr lang="zh-CN" altLang="en-US"/>
              <a:t>值时使用的是理论最优动作（贪心选择）， 而非实际执行的动作，因此能直接学习到最优策略</a:t>
            </a:r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6965315" y="1334135"/>
            <a:ext cx="4064000" cy="1476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Q </a:t>
            </a:r>
            <a:r>
              <a:rPr lang="zh-CN" altLang="en-US"/>
              <a:t>表本质上是一张状态×动作的二维矩阵。 每个格子 </a:t>
            </a:r>
            <a:r>
              <a:rPr lang="en-US" altLang="zh-CN"/>
              <a:t>Q(s, a) </a:t>
            </a:r>
            <a:r>
              <a:rPr lang="zh-CN" altLang="en-US"/>
              <a:t>存储"在状态 </a:t>
            </a:r>
            <a:r>
              <a:rPr lang="en-US" altLang="zh-CN"/>
              <a:t>s </a:t>
            </a:r>
            <a:r>
              <a:rPr lang="zh-CN" altLang="en-US"/>
              <a:t>执行动作 </a:t>
            </a:r>
            <a:r>
              <a:rPr lang="en-US" altLang="zh-CN"/>
              <a:t>a，</a:t>
            </a:r>
            <a:r>
              <a:rPr lang="zh-CN" altLang="en-US"/>
              <a:t>未来能获得的期望累计奖励"。 训练过程就是不断填准这张表的过程</a:t>
            </a:r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520700" y="3543300"/>
            <a:ext cx="6775450" cy="1476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状态	↑ 上	↓ 下	← 左	→ 右</a:t>
            </a:r>
            <a:endParaRPr lang="zh-CN" altLang="en-US"/>
          </a:p>
          <a:p>
            <a:r>
              <a:rPr lang="en-US" altLang="zh-CN"/>
              <a:t>(0,0)	0.00	0.45	0.00	0.52</a:t>
            </a:r>
            <a:endParaRPr lang="en-US" altLang="zh-CN"/>
          </a:p>
          <a:p>
            <a:r>
              <a:rPr lang="en-US" altLang="zh-CN"/>
              <a:t>(0,1)	0.00	0.61	0.41	0.58</a:t>
            </a:r>
            <a:endParaRPr lang="en-US" altLang="zh-CN"/>
          </a:p>
          <a:p>
            <a:r>
              <a:rPr lang="en-US" altLang="zh-CN"/>
              <a:t>(1,0)	0.34	0.72	0.00	0.69</a:t>
            </a:r>
            <a:endParaRPr lang="en-US" altLang="zh-CN"/>
          </a:p>
          <a:p>
            <a:r>
              <a:rPr lang="en-US" altLang="zh-CN"/>
              <a:t>(3,2)	0.00	0.00	0.81	0.95</a:t>
            </a:r>
            <a:endParaRPr lang="zh-CN" altLang="en-US"/>
          </a:p>
        </p:txBody>
      </p:sp>
      <p:sp>
        <p:nvSpPr>
          <p:cNvPr id="8" name="文本框 7"/>
          <p:cNvSpPr txBox="1"/>
          <p:nvPr/>
        </p:nvSpPr>
        <p:spPr>
          <a:xfrm>
            <a:off x="614680" y="5441315"/>
            <a:ext cx="905891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Q(S, A)←Q(S, A)+α·[R+γ·maxa'Q(S', a')-Q(S, A)]</a:t>
            </a:r>
            <a:endParaRPr lang="en-US" altLang="zh-CN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>
            <p:custDataLst>
              <p:tags r:id="rId1"/>
            </p:custDataLst>
          </p:nvPr>
        </p:nvSpPr>
        <p:spPr>
          <a:xfrm>
            <a:off x="0" y="10850"/>
            <a:ext cx="12192000" cy="436983"/>
          </a:xfrm>
          <a:prstGeom prst="rect">
            <a:avLst/>
          </a:prstGeom>
          <a:solidFill>
            <a:srgbClr val="003570"/>
          </a:soli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447675" y="800735"/>
            <a:ext cx="4064000" cy="47999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️</a:t>
            </a:r>
            <a:endParaRPr lang="zh-CN" altLang="en-US"/>
          </a:p>
          <a:p>
            <a:r>
              <a:rPr lang="zh-CN" altLang="en-US"/>
              <a:t>初始化</a:t>
            </a:r>
            <a:r>
              <a:rPr lang="en-US" altLang="zh-CN"/>
              <a:t>Q</a:t>
            </a:r>
            <a:r>
              <a:rPr lang="zh-CN" altLang="en-US"/>
              <a:t>表</a:t>
            </a:r>
            <a:endParaRPr lang="zh-CN" altLang="en-US"/>
          </a:p>
          <a:p>
            <a:r>
              <a:rPr lang="zh-CN" altLang="en-US"/>
              <a:t>将所有 </a:t>
            </a:r>
            <a:r>
              <a:rPr lang="en-US" altLang="zh-CN"/>
              <a:t>Q(s,a) </a:t>
            </a:r>
            <a:r>
              <a:rPr lang="zh-CN" altLang="en-US"/>
              <a:t>初始化为 0，建立状态×动作的二维矩阵</a:t>
            </a:r>
            <a:endParaRPr lang="zh-CN" altLang="en-US"/>
          </a:p>
          <a:p>
            <a:endParaRPr lang="en-US" altLang="zh-CN"/>
          </a:p>
          <a:p>
            <a:r>
              <a:rPr lang="zh-CN" altLang="en-US"/>
              <a:t>观察当前状态 </a:t>
            </a:r>
            <a:r>
              <a:rPr lang="en-US" altLang="zh-CN"/>
              <a:t>S</a:t>
            </a:r>
            <a:endParaRPr lang="en-US" altLang="zh-CN"/>
          </a:p>
          <a:p>
            <a:r>
              <a:rPr lang="zh-CN" altLang="en-US"/>
              <a:t>智能体感知环境，获得当前状态 </a:t>
            </a:r>
            <a:r>
              <a:rPr lang="en-US" altLang="zh-CN"/>
              <a:t>S</a:t>
            </a:r>
            <a:endParaRPr lang="en-US" altLang="zh-CN"/>
          </a:p>
          <a:p>
            <a:endParaRPr lang="en-US" altLang="zh-CN"/>
          </a:p>
          <a:p>
            <a:r>
              <a:rPr lang="en-US" altLang="zh-CN"/>
              <a:t>ε-</a:t>
            </a:r>
            <a:r>
              <a:rPr lang="zh-CN" altLang="en-US"/>
              <a:t>贪心选择动作 </a:t>
            </a:r>
            <a:r>
              <a:rPr lang="en-US" altLang="zh-CN"/>
              <a:t>A</a:t>
            </a:r>
            <a:endParaRPr lang="en-US" altLang="zh-CN"/>
          </a:p>
          <a:p>
            <a:r>
              <a:rPr lang="zh-CN" altLang="en-US"/>
              <a:t>以 </a:t>
            </a:r>
            <a:r>
              <a:rPr lang="en-US" altLang="zh-CN"/>
              <a:t>ε </a:t>
            </a:r>
            <a:r>
              <a:rPr lang="zh-CN" altLang="en-US"/>
              <a:t>概率随机探索，以 1-</a:t>
            </a:r>
            <a:r>
              <a:rPr lang="en-US" altLang="zh-CN"/>
              <a:t>ε </a:t>
            </a:r>
            <a:r>
              <a:rPr lang="zh-CN" altLang="en-US"/>
              <a:t>概率选 </a:t>
            </a:r>
            <a:r>
              <a:rPr lang="en-US" altLang="zh-CN"/>
              <a:t>Q </a:t>
            </a:r>
            <a:r>
              <a:rPr lang="zh-CN" altLang="en-US"/>
              <a:t>值最大的动作（贪心）</a:t>
            </a:r>
            <a:endParaRPr lang="zh-CN" altLang="en-US"/>
          </a:p>
          <a:p>
            <a:endParaRPr lang="en-US" altLang="zh-CN"/>
          </a:p>
          <a:p>
            <a:r>
              <a:rPr lang="zh-CN" altLang="en-US"/>
              <a:t>执行 </a:t>
            </a:r>
            <a:r>
              <a:rPr lang="en-US" altLang="zh-CN"/>
              <a:t>A，</a:t>
            </a:r>
            <a:r>
              <a:rPr lang="zh-CN" altLang="en-US"/>
              <a:t>得到 </a:t>
            </a:r>
            <a:r>
              <a:rPr lang="en-US" altLang="zh-CN"/>
              <a:t>R </a:t>
            </a:r>
            <a:r>
              <a:rPr lang="zh-CN" altLang="en-US"/>
              <a:t>和 </a:t>
            </a:r>
            <a:r>
              <a:rPr lang="en-US" altLang="zh-CN"/>
              <a:t>S'</a:t>
            </a:r>
            <a:endParaRPr lang="en-US" altLang="zh-CN"/>
          </a:p>
          <a:p>
            <a:r>
              <a:rPr lang="zh-CN" altLang="en-US"/>
              <a:t>在环境中执行动作 </a:t>
            </a:r>
            <a:r>
              <a:rPr lang="en-US" altLang="zh-CN"/>
              <a:t>A，</a:t>
            </a:r>
            <a:r>
              <a:rPr lang="zh-CN" altLang="en-US"/>
              <a:t>观察即时奖励 </a:t>
            </a:r>
            <a:r>
              <a:rPr lang="en-US" altLang="zh-CN"/>
              <a:t>R </a:t>
            </a:r>
            <a:r>
              <a:rPr lang="zh-CN" altLang="en-US"/>
              <a:t>和下一状态 </a:t>
            </a:r>
            <a:r>
              <a:rPr lang="en-US" altLang="zh-CN"/>
              <a:t>S'</a:t>
            </a:r>
            <a:endParaRPr lang="en-US" altLang="zh-CN"/>
          </a:p>
          <a:p>
            <a:endParaRPr lang="en-US" altLang="zh-CN"/>
          </a:p>
          <a:p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6517640" y="1619250"/>
            <a:ext cx="4064000" cy="34150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ym typeface="+mn-ea"/>
              </a:rPr>
              <a:t>找出 </a:t>
            </a:r>
            <a:r>
              <a:rPr lang="en-US" altLang="zh-CN">
                <a:sym typeface="+mn-ea"/>
              </a:rPr>
              <a:t>S' </a:t>
            </a:r>
            <a:r>
              <a:rPr lang="zh-CN" altLang="en-US">
                <a:sym typeface="+mn-ea"/>
              </a:rPr>
              <a:t>的最大 </a:t>
            </a:r>
            <a:r>
              <a:rPr lang="en-US" altLang="zh-CN">
                <a:sym typeface="+mn-ea"/>
              </a:rPr>
              <a:t>Q </a:t>
            </a:r>
            <a:r>
              <a:rPr lang="zh-CN" altLang="en-US">
                <a:sym typeface="+mn-ea"/>
              </a:rPr>
              <a:t>值</a:t>
            </a:r>
            <a:endParaRPr lang="zh-CN" altLang="en-US"/>
          </a:p>
          <a:p>
            <a:r>
              <a:rPr lang="zh-CN" altLang="en-US">
                <a:sym typeface="+mn-ea"/>
              </a:rPr>
              <a:t>对 </a:t>
            </a:r>
            <a:r>
              <a:rPr lang="en-US" altLang="zh-CN">
                <a:sym typeface="+mn-ea"/>
              </a:rPr>
              <a:t>S' </a:t>
            </a:r>
            <a:r>
              <a:rPr lang="zh-CN" altLang="en-US">
                <a:sym typeface="+mn-ea"/>
              </a:rPr>
              <a:t>所有动作取 </a:t>
            </a:r>
            <a:r>
              <a:rPr lang="en-US" altLang="zh-CN">
                <a:sym typeface="+mn-ea"/>
              </a:rPr>
              <a:t>max Q(S',a')，</a:t>
            </a:r>
            <a:r>
              <a:rPr lang="zh-CN" altLang="en-US">
                <a:sym typeface="+mn-ea"/>
              </a:rPr>
              <a:t>无需实际执行该动作（</a:t>
            </a:r>
            <a:r>
              <a:rPr lang="en-US" altLang="zh-CN">
                <a:sym typeface="+mn-ea"/>
              </a:rPr>
              <a:t>Off-Policy</a:t>
            </a:r>
            <a:r>
              <a:rPr lang="zh-CN" altLang="en-US">
                <a:sym typeface="+mn-ea"/>
              </a:rPr>
              <a:t>关键！）</a:t>
            </a:r>
            <a:endParaRPr lang="zh-CN" altLang="en-US"/>
          </a:p>
          <a:p>
            <a:endParaRPr lang="en-US" altLang="zh-CN"/>
          </a:p>
          <a:p>
            <a:r>
              <a:rPr lang="zh-CN" altLang="en-US">
                <a:sym typeface="+mn-ea"/>
              </a:rPr>
              <a:t>更新 </a:t>
            </a:r>
            <a:r>
              <a:rPr lang="en-US" altLang="zh-CN">
                <a:sym typeface="+mn-ea"/>
              </a:rPr>
              <a:t>Q(S,A)</a:t>
            </a:r>
            <a:endParaRPr lang="en-US" altLang="zh-CN"/>
          </a:p>
          <a:p>
            <a:r>
              <a:rPr lang="en-US" altLang="zh-CN">
                <a:sym typeface="+mn-ea"/>
              </a:rPr>
              <a:t>Q(S,A) ← Q(S,A) + α·[R + γ·maxQ(S',a') − Q(S,A)]</a:t>
            </a:r>
            <a:endParaRPr lang="en-US" altLang="zh-CN"/>
          </a:p>
          <a:p>
            <a:endParaRPr lang="en-US" altLang="zh-CN"/>
          </a:p>
          <a:p>
            <a:r>
              <a:rPr lang="en-US" altLang="zh-CN">
                <a:sym typeface="+mn-ea"/>
              </a:rPr>
              <a:t>S ← S'，</a:t>
            </a:r>
            <a:r>
              <a:rPr lang="zh-CN" altLang="en-US">
                <a:sym typeface="+mn-ea"/>
              </a:rPr>
              <a:t>继续迭代</a:t>
            </a:r>
            <a:endParaRPr lang="zh-CN" altLang="en-US"/>
          </a:p>
          <a:p>
            <a:r>
              <a:rPr lang="zh-CN" altLang="en-US">
                <a:sym typeface="+mn-ea"/>
              </a:rPr>
              <a:t>更新当前状态，重复步骤3-6，直到收敛或达到最大回合数</a:t>
            </a:r>
            <a:endParaRPr lang="zh-CN" altLang="en-US"/>
          </a:p>
          <a:p>
            <a:endParaRPr lang="zh-CN" alt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>
            <p:custDataLst>
              <p:tags r:id="rId1"/>
            </p:custDataLst>
          </p:nvPr>
        </p:nvSpPr>
        <p:spPr>
          <a:xfrm>
            <a:off x="0" y="10850"/>
            <a:ext cx="12192000" cy="436983"/>
          </a:xfrm>
          <a:prstGeom prst="rect">
            <a:avLst/>
          </a:prstGeom>
          <a:solidFill>
            <a:srgbClr val="003570"/>
          </a:soli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694690"/>
            <a:ext cx="4295775" cy="2819400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5142865" y="78803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环境</a:t>
            </a:r>
            <a:r>
              <a:rPr lang="zh-CN" altLang="en-US"/>
              <a:t>设置</a:t>
            </a:r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5142865" y="1356995"/>
            <a:ext cx="4064000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使用一个 4×4 的网格世界作为例子：智能体从左上角出发，目标是到达右下角</a:t>
            </a:r>
            <a:endParaRPr lang="zh-CN" altLang="en-US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3230" y="3876675"/>
            <a:ext cx="4245610" cy="2159635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5318125" y="3971290"/>
            <a:ext cx="4064000" cy="1476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初始化 </a:t>
            </a:r>
            <a:r>
              <a:rPr lang="en-US" altLang="zh-CN"/>
              <a:t>Q </a:t>
            </a:r>
            <a:r>
              <a:rPr lang="zh-CN" altLang="en-US"/>
              <a:t>表</a:t>
            </a:r>
            <a:endParaRPr lang="zh-CN" altLang="en-US"/>
          </a:p>
          <a:p>
            <a:r>
              <a:rPr lang="en-US" altLang="zh-CN"/>
              <a:t>Q </a:t>
            </a:r>
            <a:r>
              <a:rPr lang="zh-CN" altLang="en-US"/>
              <a:t>表是算法的核心数据结构：</a:t>
            </a:r>
            <a:r>
              <a:rPr lang="en-US" altLang="zh-CN"/>
              <a:t>shape = (</a:t>
            </a:r>
            <a:r>
              <a:rPr lang="zh-CN" altLang="en-US"/>
              <a:t>状态数, 动作数)。初始化为全 0，意味着对所有状态-动作对一无所知，随后通过与环境交互不断修正</a:t>
            </a:r>
            <a:endParaRPr lang="zh-CN" alt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>
            <p:custDataLst>
              <p:tags r:id="rId1"/>
            </p:custDataLst>
          </p:nvPr>
        </p:nvSpPr>
        <p:spPr>
          <a:xfrm>
            <a:off x="0" y="10850"/>
            <a:ext cx="12192000" cy="436983"/>
          </a:xfrm>
          <a:prstGeom prst="rect">
            <a:avLst/>
          </a:prstGeom>
          <a:solidFill>
            <a:srgbClr val="003570"/>
          </a:soli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005" y="825500"/>
            <a:ext cx="5067300" cy="3371850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6226175" y="1520190"/>
            <a:ext cx="4064000" cy="1476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环境交互</a:t>
            </a:r>
            <a:endParaRPr lang="zh-CN" altLang="en-US"/>
          </a:p>
          <a:p>
            <a:r>
              <a:rPr lang="zh-CN" altLang="en-US"/>
              <a:t>定义智能体如何在网格中移动。到达终点奖励 +1，其余每步 -0.01（小惩罚，鼓励尽快到达终点）。撞墙则停在原地</a:t>
            </a:r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2460" y="4575175"/>
            <a:ext cx="4752975" cy="2114550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6392545" y="4502785"/>
            <a:ext cx="4064000" cy="17532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ε-</a:t>
            </a:r>
            <a:r>
              <a:rPr lang="zh-CN" altLang="en-US"/>
              <a:t>贪心探索策略</a:t>
            </a:r>
            <a:endParaRPr lang="zh-CN" altLang="en-US"/>
          </a:p>
          <a:p>
            <a:r>
              <a:rPr lang="en-US" altLang="zh-CN"/>
              <a:t>ε-</a:t>
            </a:r>
            <a:r>
              <a:rPr lang="zh-CN" altLang="en-US"/>
              <a:t>贪心是 </a:t>
            </a:r>
            <a:r>
              <a:rPr lang="en-US" altLang="zh-CN"/>
              <a:t>Q-Learning </a:t>
            </a:r>
            <a:r>
              <a:rPr lang="zh-CN" altLang="en-US"/>
              <a:t>用于收集经验的行为策略。</a:t>
            </a:r>
            <a:r>
              <a:rPr lang="en-US" altLang="zh-CN"/>
              <a:t>ε </a:t>
            </a:r>
            <a:r>
              <a:rPr lang="zh-CN" altLang="en-US"/>
              <a:t>控制探索比例：训练初期 </a:t>
            </a:r>
            <a:r>
              <a:rPr lang="en-US" altLang="zh-CN"/>
              <a:t>ε </a:t>
            </a:r>
            <a:r>
              <a:rPr lang="zh-CN" altLang="en-US"/>
              <a:t>大（多探索），后期 </a:t>
            </a:r>
            <a:r>
              <a:rPr lang="en-US" altLang="zh-CN"/>
              <a:t>ε </a:t>
            </a:r>
            <a:r>
              <a:rPr lang="zh-CN" altLang="en-US"/>
              <a:t>小（更贪心）。注意：更新时用的是另一套贪心策略（取</a:t>
            </a:r>
            <a:r>
              <a:rPr lang="en-US" altLang="zh-CN"/>
              <a:t>max），</a:t>
            </a:r>
            <a:r>
              <a:rPr lang="zh-CN" altLang="en-US"/>
              <a:t>这正是 </a:t>
            </a:r>
            <a:r>
              <a:rPr lang="en-US" altLang="zh-CN"/>
              <a:t>Off-Policy </a:t>
            </a:r>
            <a:r>
              <a:rPr lang="zh-CN" altLang="en-US"/>
              <a:t>的含义</a:t>
            </a:r>
            <a:endParaRPr lang="zh-CN" alt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>
            <p:custDataLst>
              <p:tags r:id="rId1"/>
            </p:custDataLst>
          </p:nvPr>
        </p:nvSpPr>
        <p:spPr>
          <a:xfrm>
            <a:off x="0" y="10850"/>
            <a:ext cx="12192000" cy="436983"/>
          </a:xfrm>
          <a:prstGeom prst="rect">
            <a:avLst/>
          </a:prstGeom>
          <a:solidFill>
            <a:srgbClr val="003570"/>
          </a:soli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9135" y="557530"/>
            <a:ext cx="4514850" cy="4219575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45125" y="557530"/>
            <a:ext cx="5181600" cy="3962400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770890" y="5285105"/>
            <a:ext cx="9110980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Q-Learning </a:t>
            </a:r>
            <a:r>
              <a:rPr lang="zh-CN" altLang="en-US"/>
              <a:t>核心更新（最关键！）</a:t>
            </a:r>
            <a:endParaRPr lang="zh-CN" altLang="en-US"/>
          </a:p>
          <a:p>
            <a:r>
              <a:rPr lang="zh-CN" altLang="en-US"/>
              <a:t>这是 </a:t>
            </a:r>
            <a:r>
              <a:rPr lang="en-US" altLang="zh-CN"/>
              <a:t>Q-Learning </a:t>
            </a:r>
            <a:r>
              <a:rPr lang="zh-CN" altLang="en-US"/>
              <a:t>与 </a:t>
            </a:r>
            <a:r>
              <a:rPr lang="en-US" altLang="zh-CN"/>
              <a:t>SARSA </a:t>
            </a:r>
            <a:r>
              <a:rPr lang="zh-CN" altLang="en-US"/>
              <a:t>最本质的区别：更新时用 </a:t>
            </a:r>
            <a:r>
              <a:rPr lang="en-US" altLang="zh-CN"/>
              <a:t>max Q(S') </a:t>
            </a:r>
            <a:r>
              <a:rPr lang="zh-CN" altLang="en-US"/>
              <a:t>而非实际执行动作的 </a:t>
            </a:r>
            <a:r>
              <a:rPr lang="en-US" altLang="zh-CN"/>
              <a:t>Q </a:t>
            </a:r>
            <a:r>
              <a:rPr lang="zh-CN" altLang="en-US"/>
              <a:t>值。无需预先选择下一动作，直接用贪心最优值作为更新目标。</a:t>
            </a:r>
            <a:endParaRPr lang="zh-CN" alt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>
            <p:custDataLst>
              <p:tags r:id="rId1"/>
            </p:custDataLst>
          </p:nvPr>
        </p:nvSpPr>
        <p:spPr>
          <a:xfrm>
            <a:off x="0" y="10850"/>
            <a:ext cx="12192000" cy="436983"/>
          </a:xfrm>
          <a:prstGeom prst="rect">
            <a:avLst/>
          </a:prstGeom>
          <a:solidFill>
            <a:srgbClr val="003570"/>
          </a:soli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9620" y="648970"/>
            <a:ext cx="5562600" cy="4972050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35750" y="648970"/>
            <a:ext cx="4751705" cy="4099560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43065" y="4792345"/>
            <a:ext cx="2098675" cy="1954530"/>
          </a:xfrm>
          <a:prstGeom prst="rect">
            <a:avLst/>
          </a:prstGeom>
        </p:spPr>
      </p:pic>
    </p:spTree>
  </p:cSld>
  <p:clrMapOvr>
    <a:masterClrMapping/>
  </p:clrMapOvr>
</p:sld>
</file>

<file path=ppt/tags/tag1.xml><?xml version="1.0" encoding="utf-8"?>
<p:tagLst xmlns:p="http://schemas.openxmlformats.org/presentationml/2006/main">
  <p:tag name="KSO_WM_BEAUTIFY_FLAG" val=""/>
</p:tagLst>
</file>

<file path=ppt/tags/tag2.xml><?xml version="1.0" encoding="utf-8"?>
<p:tagLst xmlns:p="http://schemas.openxmlformats.org/presentationml/2006/main">
  <p:tag name="KSO_WM_BEAUTIFY_FLAG" val=""/>
</p:tagLst>
</file>

<file path=ppt/tags/tag3.xml><?xml version="1.0" encoding="utf-8"?>
<p:tagLst xmlns:p="http://schemas.openxmlformats.org/presentationml/2006/main">
  <p:tag name="KSO_WM_BEAUTIFY_FLAG" val=""/>
</p:tagLst>
</file>

<file path=ppt/tags/tag4.xml><?xml version="1.0" encoding="utf-8"?>
<p:tagLst xmlns:p="http://schemas.openxmlformats.org/presentationml/2006/main">
  <p:tag name="KSO_WM_BEAUTIFY_FLAG" val=""/>
</p:tagLst>
</file>

<file path=ppt/tags/tag5.xml><?xml version="1.0" encoding="utf-8"?>
<p:tagLst xmlns:p="http://schemas.openxmlformats.org/presentationml/2006/main">
  <p:tag name="KSO_WM_BEAUTIFY_FLAG" val=""/>
</p:tagLst>
</file>

<file path=ppt/tags/tag6.xml><?xml version="1.0" encoding="utf-8"?>
<p:tagLst xmlns:p="http://schemas.openxmlformats.org/presentationml/2006/main">
  <p:tag name="KSO_WM_BEAUTIFY_FLAG" val=""/>
</p:tagLst>
</file>

<file path=ppt/tags/tag7.xml><?xml version="1.0" encoding="utf-8"?>
<p:tagLst xmlns:p="http://schemas.openxmlformats.org/presentationml/2006/main">
  <p:tag name="KSO_WM_BEAUTIFY_FLAG" val=""/>
</p:tagLst>
</file>

<file path=ppt/tags/tag8.xml><?xml version="1.0" encoding="utf-8"?>
<p:tagLst xmlns:p="http://schemas.openxmlformats.org/presentationml/2006/main">
  <p:tag name="KSO_WM_BEAUTIFY_FLAG" val=""/>
</p:tagLst>
</file>

<file path=ppt/tags/tag9.xml><?xml version="1.0" encoding="utf-8"?>
<p:tagLst xmlns:p="http://schemas.openxmlformats.org/presentationml/2006/main">
  <p:tag name="KSO_WM_BEAUTIFY_FLAG" val=""/>
</p:tagLst>
</file>

<file path=ppt/tags/tag10.xml><?xml version="1.0" encoding="utf-8"?>
<p:tagLst xmlns:p="http://schemas.openxmlformats.org/presentationml/2006/main">
  <p:tag name="KSO_WM_BEAUTIFY_FLAG" val=""/>
</p:tagLst>
</file>

<file path=ppt/tags/tag11.xml><?xml version="1.0" encoding="utf-8"?>
<p:tagLst xmlns:p="http://schemas.openxmlformats.org/presentationml/2006/main">
  <p:tag name="KSO_WM_BEAUTIFY_FLAG" val=""/>
</p:tagLst>
</file>

<file path=ppt/tags/tag12.xml><?xml version="1.0" encoding="utf-8"?>
<p:tagLst xmlns:p="http://schemas.openxmlformats.org/presentationml/2006/main">
  <p:tag name="KSO_WM_BEAUTIFY_FLAG" val=""/>
</p:tagLst>
</file>

<file path=ppt/tags/tag13.xml><?xml version="1.0" encoding="utf-8"?>
<p:tagLst xmlns:p="http://schemas.openxmlformats.org/presentationml/2006/main">
  <p:tag name="KSO_WM_BEAUTIFY_FLAG" val=""/>
</p:tagLst>
</file>

<file path=ppt/tags/tag14.xml><?xml version="1.0" encoding="utf-8"?>
<p:tagLst xmlns:p="http://schemas.openxmlformats.org/presentationml/2006/main">
  <p:tag name="KSO_WM_BEAUTIFY_FLAG" val=""/>
</p:tagLst>
</file>

<file path=ppt/tags/tag15.xml><?xml version="1.0" encoding="utf-8"?>
<p:tagLst xmlns:p="http://schemas.openxmlformats.org/presentationml/2006/main">
  <p:tag name="KSO_WM_BEAUTIFY_FLAG" val=""/>
</p:tagLst>
</file>

<file path=ppt/tags/tag16.xml><?xml version="1.0" encoding="utf-8"?>
<p:tagLst xmlns:p="http://schemas.openxmlformats.org/presentationml/2006/main">
  <p:tag name="KSO_WM_BEAUTIFY_FLAG" val="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2949</Words>
  <Application>WPS 演示</Application>
  <PresentationFormat>宽屏</PresentationFormat>
  <Paragraphs>183</Paragraphs>
  <Slides>16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16</vt:i4>
      </vt:variant>
    </vt:vector>
  </HeadingPairs>
  <TitlesOfParts>
    <vt:vector size="23" baseType="lpstr">
      <vt:lpstr>Arial</vt:lpstr>
      <vt:lpstr>宋体</vt:lpstr>
      <vt:lpstr>Wingdings</vt:lpstr>
      <vt:lpstr>Calibri</vt:lpstr>
      <vt:lpstr>微软雅黑</vt:lpstr>
      <vt:lpstr>Arial Unicode MS</vt:lpstr>
      <vt:lpstr>WPS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18009</dc:creator>
  <cp:lastModifiedBy>WPS_1758282009</cp:lastModifiedBy>
  <cp:revision>10</cp:revision>
  <dcterms:created xsi:type="dcterms:W3CDTF">2023-08-09T12:44:00Z</dcterms:created>
  <dcterms:modified xsi:type="dcterms:W3CDTF">2026-06-11T12:14:37Z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2052-12.1.0.26895</vt:lpwstr>
  </property>
  <property fmtid="{D5CDD505-2E9C-101B-9397-08002B2CF9AE}" pid="3" name="ICV">
    <vt:lpwstr>1AE861DDCB3942B0AEB892E2DED5817E_12</vt:lpwstr>
  </property>
</Properties>
</file>